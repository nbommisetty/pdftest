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9A40EA-906A-4423-8C12-9ED46DBAB62A}">
  <a:tblStyle styleId="{E09A40EA-906A-4423-8C12-9ED46DBAB62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57400"/>
            <a:ext cx="11601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Adopting a Workflow Engine for </a:t>
            </a:r>
            <a:r>
              <a:rPr b="1" lang="en-US" sz="5250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Multi-step</a:t>
            </a:r>
            <a:r>
              <a:rPr b="1" i="0" lang="en-US" sz="525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 Processes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6720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190750" y="21431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Manual Handoffs: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Our current Retention Offer process relies on email and manual tracking between departments (Product, Marketing, IT).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190750" y="28479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Error-Prone: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Manual data entry for rates and customer segments leads to compliance risks and customer-facing errors.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190750" y="35528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No Visibility: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It is nearly impossible to determine the status of an offer (e.g., "Is it approved?") without multiple emails.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42576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Difficult to Audit: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We lack a clean, end-to-end audit log for each offer, making regulatory compliance burdensome.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190750" y="49625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Slow Time-to-Market: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The complexity and friction of this process directly impacts our ability to react to market changes quickly.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1907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895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6004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3053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501015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The Problem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33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07968" y="2838450"/>
            <a:ext cx="266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Step 1: M</a:t>
            </a:r>
            <a:r>
              <a:rPr b="1" lang="en-US" sz="1650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arket </a:t>
            </a:r>
            <a:r>
              <a:rPr b="1" i="0" lang="en-US" sz="165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Rates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305175"/>
            <a:ext cx="254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Update rate sheet &amp; get approval.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343888" y="2838450"/>
            <a:ext cx="266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Step 2: Retention Rates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07419" y="3305175"/>
            <a:ext cx="25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Updated proposed retention rates &amp; get approval.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179808" y="2838450"/>
            <a:ext cx="266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Step 3: </a:t>
            </a:r>
            <a:r>
              <a:rPr b="1" lang="en-US" sz="1650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Retention Offers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243339" y="3305175"/>
            <a:ext cx="25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Create Retention offers and map offers to customer segments.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015728" y="2838450"/>
            <a:ext cx="2668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Step 4: </a:t>
            </a:r>
            <a:r>
              <a:rPr b="1" lang="en-US" sz="1650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Map Offers to Customers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079259" y="3305175"/>
            <a:ext cx="25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Generate </a:t>
            </a:r>
            <a:r>
              <a:rPr lang="en-US" sz="1200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Customer/Account Retention Offer Mapping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Our Immediate Use Case: Retention Offer Workflow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1746870" y="39052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582790" y="39052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418709" y="39052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10254629" y="39052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2057400" y="2482453"/>
            <a:ext cx="8077200" cy="2559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How do we manage complex, long-running, stateful processes that involve both human tasks and system automation?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581150" y="2768203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ED4DA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334625" y="4947046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ED4DA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The Core Architectural Challenge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1725"/>
            <a:ext cx="528637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71725"/>
            <a:ext cx="52863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62025" y="27622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Option 1: Build It Ourselves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62025" y="3390900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Use custom code, state tables in our database, and basic libraries (like Spring StateMachine) to manage the workflow logic.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2762250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Analysis (Not Recommended)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724650" y="38481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This approach forces us to "re-invent the wheel." We would be building a custom, brittle workflow engine. It's high development cost, high maintenance, and provides no visual tools for auditing or process improvement.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Options Considered (Part 1: The "Build" Option)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" name="Google Shape;148;p18"/>
          <p:cNvGraphicFramePr/>
          <p:nvPr/>
        </p:nvGraphicFramePr>
        <p:xfrm>
          <a:off x="571500" y="2362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{E09A40EA-906A-4423-8C12-9ED46DBAB62A}</a:tableStyleId>
              </a:tblPr>
              <a:tblGrid>
                <a:gridCol w="2373500"/>
                <a:gridCol w="2734425"/>
                <a:gridCol w="2998725"/>
                <a:gridCol w="2932800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4A9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Criteria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4A9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Camunda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4A9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Flowable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4A9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jBPM (Red Hat)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Licensing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"Open Core" (C8) / EOL (C7)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Apache 2.0 (True Open-Source)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Apache 2.0 (True Open-Source)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Spring Boot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Excellent (Native Feel)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Good (Tied to KIE ecosystem)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Modeling Standard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BPMN 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BPMN 2.0, CMMN, DMN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BPMN 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Community Activity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(Fragmented by C7/C8)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Very Active &amp; Modern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43A4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Mature (Red Hat Led)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18"/>
          <p:cNvSpPr/>
          <p:nvPr/>
        </p:nvSpPr>
        <p:spPr>
          <a:xfrm>
            <a:off x="576262" y="2995612"/>
            <a:ext cx="2373510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2949773" y="2995612"/>
            <a:ext cx="2734419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684192" y="2995612"/>
            <a:ext cx="2998737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8682930" y="2995612"/>
            <a:ext cx="2932807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76262" y="3605212"/>
            <a:ext cx="2373510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2949773" y="3605212"/>
            <a:ext cx="2734419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684192" y="3605212"/>
            <a:ext cx="2998737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8682930" y="3605212"/>
            <a:ext cx="2932807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76262" y="4214812"/>
            <a:ext cx="2373510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2949773" y="4214812"/>
            <a:ext cx="2734419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684192" y="4214812"/>
            <a:ext cx="2998737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8682930" y="4214812"/>
            <a:ext cx="2932807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76262" y="4824412"/>
            <a:ext cx="2373510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949773" y="4824412"/>
            <a:ext cx="2734419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684192" y="4824412"/>
            <a:ext cx="2998737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8682930" y="4824412"/>
            <a:ext cx="2932807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Options Considered (Part 2: The "Buy/Adopt" Option)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79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True Open-Source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66775" y="41481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Flowable's engine is licensed under Apache 2.0. This avoids the "open core" model of Camunda 8 (hidden costs for features) and the EOL risk of Camunda 7.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60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Superb Spring Boot Fit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676775" y="4148137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The `flowable-spring-boot-starter` integrates natively into our existing stack. It feels like another Spring library, not a heavy, separate platform.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41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BPMN 2.0 Standard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486775" y="4148137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We model processes in a non-proprietary, visual standard. Our processes become auditable, portable, and business-readable assets.</a:t>
            </a:r>
            <a:endParaRPr/>
          </a:p>
        </p:txBody>
      </p:sp>
      <p:pic>
        <p:nvPicPr>
          <p:cNvPr descr="image.png" id="180" name="Google Shape;18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2240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8825" y="22240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Our Recommendation: Adopt Flowable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21621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Decoupled &amp; Scalable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14375" y="27622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09625" y="27622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React UI: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Our existing web application. It remains "dumb" to the workflow state.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714375" y="34194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809625" y="34194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Spring Boot API: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Our microservice. It owns business logic and exposes REST endpoints.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14375" y="4076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09625" y="4076700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Flowable Engine: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Embedded as a library within our Spring Boot app, it manages process state, tasks, and timers, using our existing database.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14375" y="49911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09625" y="49911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Database: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Flowable adds its own tables to our existing application schema to manage state.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Proposed Architecture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5286375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86012"/>
            <a:ext cx="5286375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962025" y="27765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1. The Process Model (BPMN)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62025" y="3405187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A User Task in the BPMN model is given a unique identifier, called a "Form Key." This key is a simple string, not a URL.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962025" y="4090987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`flowable:formKey="retention/approve-content"`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724650" y="27765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2. The Application (React)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724650" y="34051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When our React UI loads a task, it fetches the `formKey` from our API. A central router then dynamically renders the correct React component based on that key.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724650" y="4348162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This creates a reusable, scalable framework for all future processes.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How It Works: The "Form Key" Framework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2190750" y="2881312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Problem: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Our critical, multi-step processes are manual, error-prone, and lack auditability.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2190750" y="3328987"/>
            <a:ext cx="819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Solution: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Adopt the open-source Flowable engine to automate and manage these workflows. Immediate next use case after Ret</a:t>
            </a:r>
            <a:r>
              <a:rPr lang="en-US" sz="1350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ention offer management can be Wire Transfer fulfillment.</a:t>
            </a:r>
            <a:endParaRPr sz="1350">
              <a:solidFill>
                <a:srgbClr val="343A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43A4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2190750" y="4037919"/>
            <a:ext cx="819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Benefits:</a:t>
            </a:r>
            <a:r>
              <a:rPr b="0" i="0" lang="en-US" sz="1350" u="none" cap="none" strike="noStrike">
                <a:solidFill>
                  <a:srgbClr val="343A40"/>
                </a:solidFill>
                <a:latin typeface="Lato"/>
                <a:ea typeface="Lato"/>
                <a:cs typeface="Lato"/>
                <a:sym typeface="Lato"/>
              </a:rPr>
              <a:t> Increases automation, provides full auditability and visibility, and reduces compliance risk.</a:t>
            </a:r>
            <a:endParaRPr/>
          </a:p>
        </p:txBody>
      </p:sp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9289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3766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04822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571500" y="5715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Beyond Retention: A Reusable Platform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4A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295275" y="2490787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A Quick 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